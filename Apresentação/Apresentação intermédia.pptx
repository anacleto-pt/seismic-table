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9" r:id="rId4"/>
  </p:sldMasterIdLst>
  <p:notesMasterIdLst>
    <p:notesMasterId r:id="rId11"/>
  </p:notesMasterIdLst>
  <p:handoutMasterIdLst>
    <p:handoutMasterId r:id="rId12"/>
  </p:handoutMasterIdLst>
  <p:sldIdLst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E6350-5D27-5804-538B-7271B258C303}" v="9" dt="2026-04-20T18:47:49.741"/>
    <p1510:client id="{AEBF8EBA-89A5-EA5A-921C-06FC632B449B}" v="297" dt="2026-04-20T16:37:32.529"/>
    <p1510:client id="{C1FFFD18-655F-332B-6ECF-DD9FB5F12DE2}" v="570" dt="2026-04-20T11:16:32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Boa </a:t>
            </a:r>
            <a:r>
              <a:rPr lang="en-US" err="1"/>
              <a:t>tarde</a:t>
            </a:r>
            <a:r>
              <a:rPr lang="en-US"/>
              <a:t> a </a:t>
            </a:r>
            <a:r>
              <a:rPr lang="en-US" err="1"/>
              <a:t>todos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r>
              <a:rPr lang="en-US"/>
              <a:t>O meu </a:t>
            </a:r>
            <a:r>
              <a:rPr lang="en-US" err="1"/>
              <a:t>projeto</a:t>
            </a:r>
            <a:r>
              <a:rPr lang="en-US"/>
              <a:t> é o </a:t>
            </a:r>
            <a:r>
              <a:rPr lang="en-US" err="1"/>
              <a:t>desenlvimento</a:t>
            </a:r>
            <a:r>
              <a:rPr lang="en-US"/>
              <a:t> de </a:t>
            </a:r>
            <a:r>
              <a:rPr lang="en-US" err="1"/>
              <a:t>uma</a:t>
            </a:r>
            <a:r>
              <a:rPr lang="en-US"/>
              <a:t> mesa </a:t>
            </a:r>
            <a:r>
              <a:rPr lang="en-US" err="1"/>
              <a:t>sísmica</a:t>
            </a:r>
            <a:r>
              <a:rPr lang="en-US"/>
              <a:t> com </a:t>
            </a:r>
            <a:r>
              <a:rPr lang="en-US" err="1"/>
              <a:t>técnicas</a:t>
            </a:r>
            <a:r>
              <a:rPr lang="en-US"/>
              <a:t> de </a:t>
            </a:r>
            <a:r>
              <a:rPr lang="en-US" err="1"/>
              <a:t>impressão</a:t>
            </a:r>
            <a:r>
              <a:rPr lang="en-US"/>
              <a:t> 3D </a:t>
            </a:r>
            <a:r>
              <a:rPr lang="en-US" err="1"/>
              <a:t>orientado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professor Vítor Silva.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>
                <a:highlight>
                  <a:srgbClr val="F5F5F5"/>
                </a:highlight>
                <a:cs typeface="+mn-lt"/>
              </a:rPr>
              <a:t>O principa objetivo deste projeto é ter uma plataforma para que países em desenvolvimento e escolas possam ter uma mesa que simule sismos reais ou apenas frequências constantes a baixo custo de modo a poderem simular como estruras reagem a sismos e para ensino.</a:t>
            </a:r>
            <a:endParaRPr lang="en-US">
              <a:highlight>
                <a:srgbClr val="F5F5F5"/>
              </a:highlight>
              <a:cs typeface="+mn-lt"/>
            </a:endParaRPr>
          </a:p>
          <a:p>
            <a:br>
              <a:rPr lang="pt-PT">
                <a:highlight>
                  <a:srgbClr val="F5F5F5"/>
                </a:highlight>
                <a:cs typeface="+mn-lt"/>
              </a:rPr>
            </a:br>
            <a:r>
              <a:rPr lang="pt-PT">
                <a:solidFill>
                  <a:srgbClr val="2A0053"/>
                </a:solidFill>
                <a:highlight>
                  <a:srgbClr val="F5F5F5"/>
                </a:highlight>
              </a:rPr>
              <a:t>Enquanto mesas como a da imagem simulam relativamente bem os efeitos de sismos em estruturas, as mesmas sofrem de 1 problema fundamentál, o seu preço.</a:t>
            </a:r>
            <a:endParaRPr lang="en-US">
              <a:solidFill>
                <a:srgbClr val="000000"/>
              </a:solidFill>
              <a:highlight>
                <a:srgbClr val="F5F5F5"/>
              </a:highlight>
            </a:endParaRPr>
          </a:p>
          <a:p>
            <a:br>
              <a:rPr lang="pt-PT">
                <a:highlight>
                  <a:srgbClr val="F5F5F5"/>
                </a:highlight>
                <a:cs typeface="+mn-lt"/>
              </a:rPr>
            </a:br>
            <a:r>
              <a:rPr lang="pt-PT">
                <a:solidFill>
                  <a:srgbClr val="2A0053"/>
                </a:solidFill>
                <a:highlight>
                  <a:srgbClr val="F5F5F5"/>
                </a:highlight>
              </a:rPr>
              <a:t>Além disso a mesa da imagem move-se num só eixo, quando na realidade um sismo não atua só num eixo. Daí eu e o meu orientador termos chegado à conclusão que um design que andasse nos dois eixos, X e Y, fosse o ideal, c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om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essa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ideia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em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mente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decidimos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usar o design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que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vou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mostrar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 de </a:t>
            </a:r>
            <a:r>
              <a:rPr lang="en-US" err="1">
                <a:solidFill>
                  <a:srgbClr val="000000"/>
                </a:solidFill>
                <a:highlight>
                  <a:srgbClr val="F5F5F5"/>
                </a:highlight>
              </a:rPr>
              <a:t>seguida</a:t>
            </a:r>
            <a:r>
              <a:rPr lang="en-US">
                <a:solidFill>
                  <a:srgbClr val="000000"/>
                </a:solidFill>
                <a:highlight>
                  <a:srgbClr val="F5F5F5"/>
                </a:highlight>
              </a:rPr>
              <a:t>.</a:t>
            </a:r>
            <a:endParaRPr lang="en-US">
              <a:highlight>
                <a:srgbClr val="F5F5F5"/>
              </a:highlight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25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Apesar de haver </a:t>
            </a:r>
            <a:r>
              <a:rPr lang="en-US" err="1"/>
              <a:t>muitas</a:t>
            </a:r>
            <a:r>
              <a:rPr lang="en-US"/>
              <a:t> mesas </a:t>
            </a:r>
            <a:r>
              <a:rPr lang="en-US" err="1"/>
              <a:t>sísmicas</a:t>
            </a:r>
            <a:r>
              <a:rPr lang="en-US"/>
              <a:t> a </a:t>
            </a:r>
            <a:r>
              <a:rPr lang="en-US" err="1"/>
              <a:t>nível</a:t>
            </a:r>
            <a:r>
              <a:rPr lang="en-US"/>
              <a:t> </a:t>
            </a:r>
            <a:r>
              <a:rPr lang="en-US" err="1"/>
              <a:t>proficional</a:t>
            </a:r>
            <a:r>
              <a:rPr lang="en-US"/>
              <a:t> e industrial,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existem</a:t>
            </a:r>
            <a:r>
              <a:rPr lang="en-US"/>
              <a:t> </a:t>
            </a:r>
            <a:r>
              <a:rPr lang="en-US" err="1"/>
              <a:t>nenhumas</a:t>
            </a:r>
            <a:r>
              <a:rPr lang="en-US"/>
              <a:t> </a:t>
            </a:r>
            <a:r>
              <a:rPr lang="en-US" err="1"/>
              <a:t>acessíveis</a:t>
            </a:r>
            <a:r>
              <a:rPr lang="en-US"/>
              <a:t> com </a:t>
            </a:r>
            <a:r>
              <a:rPr lang="en-US" err="1"/>
              <a:t>muita</a:t>
            </a:r>
            <a:r>
              <a:rPr lang="en-US"/>
              <a:t> </a:t>
            </a:r>
            <a:r>
              <a:rPr lang="en-US" err="1"/>
              <a:t>pesquisa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encontrei</a:t>
            </a:r>
            <a:r>
              <a:rPr lang="en-US"/>
              <a:t> </a:t>
            </a:r>
            <a:r>
              <a:rPr lang="en-US" err="1"/>
              <a:t>nenhuma</a:t>
            </a:r>
            <a:r>
              <a:rPr lang="en-US"/>
              <a:t> </a:t>
            </a:r>
            <a:r>
              <a:rPr lang="en-US" err="1"/>
              <a:t>equiparável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o professor Vítor </a:t>
            </a:r>
            <a:r>
              <a:rPr lang="en-US" err="1"/>
              <a:t>pretende</a:t>
            </a:r>
            <a:r>
              <a:rPr lang="en-US"/>
              <a:t> com </a:t>
            </a:r>
            <a:r>
              <a:rPr lang="en-US" err="1"/>
              <a:t>este</a:t>
            </a:r>
            <a:r>
              <a:rPr lang="en-US"/>
              <a:t> </a:t>
            </a:r>
            <a:r>
              <a:rPr lang="en-US" err="1"/>
              <a:t>projeto</a:t>
            </a:r>
            <a:r>
              <a:rPr lang="en-US"/>
              <a:t>. A </a:t>
            </a:r>
            <a:r>
              <a:rPr lang="en-US" err="1"/>
              <a:t>única</a:t>
            </a:r>
            <a:r>
              <a:rPr lang="en-US"/>
              <a:t> mesa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encontrei</a:t>
            </a:r>
            <a:r>
              <a:rPr lang="en-US"/>
              <a:t> para </a:t>
            </a:r>
            <a:r>
              <a:rPr lang="en-US" err="1"/>
              <a:t>venda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público</a:t>
            </a:r>
            <a:r>
              <a:rPr lang="en-US"/>
              <a:t> é a </a:t>
            </a:r>
            <a:r>
              <a:rPr lang="en-US" err="1"/>
              <a:t>Quanser</a:t>
            </a:r>
            <a:r>
              <a:rPr lang="en-US"/>
              <a:t> Shake Table II XY </a:t>
            </a:r>
            <a:r>
              <a:rPr lang="en-US" err="1"/>
              <a:t>que</a:t>
            </a:r>
            <a:r>
              <a:rPr lang="en-US"/>
              <a:t> para </a:t>
            </a:r>
            <a:r>
              <a:rPr lang="en-US" err="1"/>
              <a:t>obter</a:t>
            </a:r>
            <a:r>
              <a:rPr lang="en-US"/>
              <a:t> o </a:t>
            </a:r>
            <a:r>
              <a:rPr lang="en-US" err="1"/>
              <a:t>preço</a:t>
            </a:r>
            <a:r>
              <a:rPr lang="en-US"/>
              <a:t> é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pedir</a:t>
            </a:r>
            <a:r>
              <a:rPr lang="en-US"/>
              <a:t> um </a:t>
            </a:r>
            <a:r>
              <a:rPr lang="en-US" err="1"/>
              <a:t>orçamento</a:t>
            </a:r>
            <a:r>
              <a:rPr lang="en-US"/>
              <a:t> mas </a:t>
            </a:r>
            <a:r>
              <a:rPr lang="en-US" err="1"/>
              <a:t>estimativas</a:t>
            </a:r>
            <a:r>
              <a:rPr lang="en-US"/>
              <a:t> </a:t>
            </a:r>
            <a:r>
              <a:rPr lang="en-US" err="1"/>
              <a:t>apontam</a:t>
            </a:r>
            <a:r>
              <a:rPr lang="en-US"/>
              <a:t> para ser </a:t>
            </a:r>
            <a:r>
              <a:rPr lang="en-US" err="1"/>
              <a:t>mais</a:t>
            </a:r>
            <a:r>
              <a:rPr lang="en-US"/>
              <a:t> do </a:t>
            </a:r>
            <a:r>
              <a:rPr lang="en-US" err="1"/>
              <a:t>que</a:t>
            </a:r>
            <a:r>
              <a:rPr lang="en-US"/>
              <a:t> 10000€</a:t>
            </a:r>
          </a:p>
          <a:p>
            <a:endParaRPr lang="en-US"/>
          </a:p>
          <a:p>
            <a:r>
              <a:rPr lang="en-US"/>
              <a:t>*</a:t>
            </a:r>
            <a:r>
              <a:rPr lang="en-US" err="1"/>
              <a:t>Explicar</a:t>
            </a:r>
            <a:r>
              <a:rPr lang="en-US"/>
              <a:t> abordagem*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2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Explicar</a:t>
            </a:r>
            <a:r>
              <a:rPr lang="en-US">
                <a:latin typeface="Calibri"/>
                <a:ea typeface="Calibri"/>
                <a:cs typeface="Calibri"/>
              </a:rPr>
              <a:t> o </a:t>
            </a:r>
            <a:r>
              <a:rPr lang="en-US" err="1">
                <a:latin typeface="Calibri"/>
                <a:ea typeface="Calibri"/>
                <a:cs typeface="Calibri"/>
              </a:rPr>
              <a:t>que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foi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feito</a:t>
            </a:r>
            <a:r>
              <a:rPr lang="en-US">
                <a:latin typeface="Calibri"/>
                <a:ea typeface="Calibri"/>
                <a:cs typeface="Calibri"/>
              </a:rPr>
              <a:t> e </a:t>
            </a:r>
            <a:r>
              <a:rPr lang="en-US" err="1">
                <a:latin typeface="Calibri"/>
                <a:ea typeface="Calibri"/>
                <a:cs typeface="Calibri"/>
              </a:rPr>
              <a:t>porquê</a:t>
            </a:r>
            <a:r>
              <a:rPr lang="en-US">
                <a:latin typeface="Calibri"/>
                <a:ea typeface="Calibri"/>
                <a:cs typeface="Calibri"/>
              </a:rPr>
              <a:t> de ser </a:t>
            </a:r>
            <a:r>
              <a:rPr lang="en-US" err="1">
                <a:latin typeface="Calibri"/>
                <a:ea typeface="Calibri"/>
                <a:cs typeface="Calibri"/>
              </a:rPr>
              <a:t>feito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88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Mensionar</a:t>
            </a:r>
            <a:r>
              <a:rPr lang="en-US">
                <a:latin typeface="Calibri"/>
                <a:ea typeface="Calibri"/>
                <a:cs typeface="Calibri"/>
              </a:rPr>
              <a:t> a </a:t>
            </a:r>
            <a:r>
              <a:rPr lang="en-US" err="1">
                <a:latin typeface="Calibri"/>
                <a:ea typeface="Calibri"/>
                <a:cs typeface="Calibri"/>
              </a:rPr>
              <a:t>transição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os</a:t>
            </a:r>
            <a:r>
              <a:rPr lang="en-US">
                <a:latin typeface="Calibri"/>
                <a:ea typeface="Calibri"/>
                <a:cs typeface="Calibri"/>
              </a:rPr>
              <a:t> 4 </a:t>
            </a:r>
            <a:r>
              <a:rPr lang="en-US" err="1">
                <a:latin typeface="Calibri"/>
                <a:ea typeface="Calibri"/>
                <a:cs typeface="Calibri"/>
              </a:rPr>
              <a:t>motores</a:t>
            </a:r>
            <a:r>
              <a:rPr lang="en-US">
                <a:latin typeface="Calibri"/>
                <a:ea typeface="Calibri"/>
                <a:cs typeface="Calibri"/>
              </a:rPr>
              <a:t> e o </a:t>
            </a:r>
            <a:r>
              <a:rPr lang="en-US" err="1">
                <a:latin typeface="Calibri"/>
                <a:ea typeface="Calibri"/>
                <a:cs typeface="Calibri"/>
              </a:rPr>
              <a:t>aumento</a:t>
            </a:r>
            <a:r>
              <a:rPr lang="en-US">
                <a:latin typeface="Calibri"/>
                <a:ea typeface="Calibri"/>
                <a:cs typeface="Calibri"/>
              </a:rPr>
              <a:t> de </a:t>
            </a:r>
            <a:r>
              <a:rPr lang="en-US" err="1">
                <a:latin typeface="Calibri"/>
                <a:ea typeface="Calibri"/>
                <a:cs typeface="Calibri"/>
              </a:rPr>
              <a:t>dificuldade</a:t>
            </a:r>
            <a:r>
              <a:rPr lang="en-US">
                <a:latin typeface="Calibri"/>
                <a:ea typeface="Calibri"/>
                <a:cs typeface="Calibri"/>
              </a:rPr>
              <a:t> para </a:t>
            </a:r>
            <a:r>
              <a:rPr lang="en-US" err="1">
                <a:latin typeface="Calibri"/>
                <a:ea typeface="Calibri"/>
                <a:cs typeface="Calibri"/>
              </a:rPr>
              <a:t>tratar</a:t>
            </a:r>
            <a:r>
              <a:rPr lang="en-US">
                <a:latin typeface="Calibri"/>
                <a:ea typeface="Calibri"/>
                <a:cs typeface="Calibri"/>
              </a:rPr>
              <a:t> da </a:t>
            </a:r>
            <a:r>
              <a:rPr lang="en-US" err="1">
                <a:latin typeface="Calibri"/>
                <a:ea typeface="Calibri"/>
                <a:cs typeface="Calibri"/>
              </a:rPr>
              <a:t>mateática</a:t>
            </a:r>
            <a:r>
              <a:rPr lang="en-US">
                <a:latin typeface="Calibri"/>
                <a:ea typeface="Calibri"/>
                <a:cs typeface="Calibri"/>
              </a:rPr>
              <a:t> dos </a:t>
            </a:r>
            <a:r>
              <a:rPr lang="en-US" err="1">
                <a:latin typeface="Calibri"/>
                <a:ea typeface="Calibri"/>
                <a:cs typeface="Calibri"/>
              </a:rPr>
              <a:t>movimentos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  <a:br>
              <a:rPr lang="en-US">
                <a:latin typeface="Calibri"/>
                <a:ea typeface="Calibri"/>
                <a:cs typeface="Calibri"/>
              </a:rPr>
            </a:b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 err="1">
                <a:latin typeface="Calibri"/>
                <a:ea typeface="Calibri"/>
                <a:cs typeface="Calibri"/>
              </a:rPr>
              <a:t>Mensionar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funcionalidades</a:t>
            </a:r>
            <a:r>
              <a:rPr lang="en-US">
                <a:latin typeface="Calibri"/>
                <a:ea typeface="Calibri"/>
                <a:cs typeface="Calibri"/>
              </a:rPr>
              <a:t> extra </a:t>
            </a:r>
            <a:r>
              <a:rPr lang="en-US" err="1">
                <a:latin typeface="Calibri"/>
                <a:ea typeface="Calibri"/>
                <a:cs typeface="Calibri"/>
              </a:rPr>
              <a:t>pensadas</a:t>
            </a:r>
            <a:r>
              <a:rPr lang="en-US">
                <a:latin typeface="Calibri"/>
                <a:ea typeface="Calibri"/>
                <a:cs typeface="Calibri"/>
              </a:rPr>
              <a:t> para a mesa (</a:t>
            </a:r>
            <a:r>
              <a:rPr lang="en-US" err="1">
                <a:latin typeface="Calibri"/>
                <a:ea typeface="Calibri"/>
                <a:cs typeface="Calibri"/>
              </a:rPr>
              <a:t>Sismos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frequência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constante</a:t>
            </a:r>
            <a:r>
              <a:rPr lang="en-US">
                <a:latin typeface="Calibri"/>
                <a:ea typeface="Calibri"/>
                <a:cs typeface="Calibri"/>
              </a:rPr>
              <a:t>, mover com o </a:t>
            </a:r>
            <a:r>
              <a:rPr lang="en-US" err="1">
                <a:latin typeface="Calibri"/>
                <a:ea typeface="Calibri"/>
                <a:cs typeface="Calibri"/>
              </a:rPr>
              <a:t>rato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4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err="1">
                <a:cs typeface="Biome"/>
              </a:rPr>
              <a:t>Desenvolvimento</a:t>
            </a:r>
            <a:r>
              <a:rPr lang="en-US" sz="8000">
                <a:cs typeface="Biome"/>
              </a:rPr>
              <a:t> de mesa </a:t>
            </a:r>
            <a:r>
              <a:rPr lang="en-US" sz="8000" err="1">
                <a:cs typeface="Biome"/>
              </a:rPr>
              <a:t>sismica</a:t>
            </a:r>
            <a:r>
              <a:rPr lang="en-US" sz="8000">
                <a:cs typeface="Biome"/>
              </a:rPr>
              <a:t> com base </a:t>
            </a:r>
            <a:r>
              <a:rPr lang="en-US" sz="8000" err="1">
                <a:cs typeface="Biome"/>
              </a:rPr>
              <a:t>em</a:t>
            </a:r>
            <a:r>
              <a:rPr lang="en-US" sz="8000">
                <a:cs typeface="Biome"/>
              </a:rPr>
              <a:t> </a:t>
            </a:r>
            <a:r>
              <a:rPr lang="en-US" sz="8000" err="1">
                <a:cs typeface="Biome"/>
              </a:rPr>
              <a:t>impressão</a:t>
            </a:r>
            <a:r>
              <a:rPr lang="en-US" sz="8000">
                <a:cs typeface="Biome"/>
              </a:rPr>
              <a:t> 3D</a:t>
            </a:r>
            <a:endParaRPr lang="en-US" sz="8000" err="1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565435" cy="1139825"/>
          </a:xfrm>
        </p:spPr>
        <p:txBody>
          <a:bodyPr anchor="t">
            <a:normAutofit/>
          </a:bodyPr>
          <a:lstStyle/>
          <a:p>
            <a:r>
              <a:rPr lang="en-US" err="1"/>
              <a:t>Projeto</a:t>
            </a:r>
            <a:r>
              <a:rPr lang="en-US"/>
              <a:t> </a:t>
            </a:r>
            <a:r>
              <a:rPr lang="en-US" err="1"/>
              <a:t>proposto</a:t>
            </a:r>
            <a:r>
              <a:rPr lang="en-US"/>
              <a:t> </a:t>
            </a:r>
            <a:r>
              <a:rPr lang="en-US" err="1"/>
              <a:t>por</a:t>
            </a:r>
            <a:r>
              <a:rPr lang="en-US"/>
              <a:t>: Vítor Silva</a:t>
            </a:r>
            <a:endParaRPr lang="pt-PT"/>
          </a:p>
          <a:p>
            <a:r>
              <a:rPr lang="en-US"/>
              <a:t>Vasco Anacleto 118829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BC355-4836-D1F5-B3A6-25389360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>
                <a:cs typeface="Biome"/>
              </a:rPr>
              <a:t>Em que consiste o projeto e qual o seu propósito?</a:t>
            </a:r>
            <a:endParaRPr lang="pt-PT"/>
          </a:p>
        </p:txBody>
      </p:sp>
      <p:pic>
        <p:nvPicPr>
          <p:cNvPr id="15" name="Marcador de Posição de Conteúdo 14" descr="MTS Simuladores sísmicos e Mesas vibratórias MTS">
            <a:extLst>
              <a:ext uri="{FF2B5EF4-FFF2-40B4-BE49-F238E27FC236}">
                <a16:creationId xmlns:a16="http://schemas.microsoft.com/office/drawing/2014/main" id="{6CB3659D-9198-9EC2-67E2-93B070825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9267" y="1228472"/>
            <a:ext cx="3832794" cy="4538662"/>
          </a:xfrm>
          <a:prstGeom prst="rect">
            <a:avLst/>
          </a:prstGeom>
        </p:spPr>
      </p:pic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B36A2C7-7410-B894-7324-372525AE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000" dirty="0" smtClean="0"/>
              <a:t>2</a:t>
            </a:fld>
            <a:endParaRPr lang="pt-PT" sz="20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348FF4-4235-178D-A90E-4D25FE555E21}"/>
              </a:ext>
            </a:extLst>
          </p:cNvPr>
          <p:cNvSpPr txBox="1"/>
          <p:nvPr/>
        </p:nvSpPr>
        <p:spPr>
          <a:xfrm>
            <a:off x="631713" y="5769278"/>
            <a:ext cx="3825265" cy="3684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/>
              <a:t>Mesa sísmica [1]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122518-D1D2-E2F7-69CD-A1BE2519261D}"/>
              </a:ext>
            </a:extLst>
          </p:cNvPr>
          <p:cNvSpPr txBox="1"/>
          <p:nvPr/>
        </p:nvSpPr>
        <p:spPr>
          <a:xfrm>
            <a:off x="2152278" y="6487958"/>
            <a:ext cx="7878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[1] </a:t>
            </a:r>
            <a:r>
              <a:rPr lang="pt-PT">
                <a:ea typeface="+mn-lt"/>
                <a:cs typeface="+mn-lt"/>
              </a:rPr>
              <a:t>https://www.mts.com/br/products/civil-engineering/seismic-simulators</a:t>
            </a:r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0411B0-044D-9873-1794-C49DDF846F8A}"/>
              </a:ext>
            </a:extLst>
          </p:cNvPr>
          <p:cNvSpPr txBox="1"/>
          <p:nvPr/>
        </p:nvSpPr>
        <p:spPr>
          <a:xfrm>
            <a:off x="6783608" y="2828436"/>
            <a:ext cx="426793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Mesas sísmicas como a da imagem custam milhares de euros. Enquanto que a mesa que estou a desenvolver vai ter um custo de cerca de 500 euros.</a:t>
            </a:r>
          </a:p>
        </p:txBody>
      </p:sp>
    </p:spTree>
    <p:extLst>
      <p:ext uri="{BB962C8B-B14F-4D97-AF65-F5344CB8AC3E}">
        <p14:creationId xmlns:p14="http://schemas.microsoft.com/office/powerpoint/2010/main" val="336739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DBFDEBC-5C75-4E2A-4483-9F8FC94A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175"/>
            <a:ext cx="11277599" cy="914400"/>
          </a:xfrm>
        </p:spPr>
        <p:txBody>
          <a:bodyPr>
            <a:normAutofit/>
          </a:bodyPr>
          <a:lstStyle/>
          <a:p>
            <a:r>
              <a:rPr lang="pt-PT" sz="3600">
                <a:cs typeface="Biome"/>
              </a:rPr>
              <a:t>Abordagem</a:t>
            </a:r>
            <a:endParaRPr lang="pt-PT" sz="3600"/>
          </a:p>
        </p:txBody>
      </p:sp>
      <p:pic>
        <p:nvPicPr>
          <p:cNvPr id="10" name="Imagem 9" descr="Uma imagem com diagrama, file&#10;&#10;Os conteúdos gerados por IA poderão estar incorretos.">
            <a:extLst>
              <a:ext uri="{FF2B5EF4-FFF2-40B4-BE49-F238E27FC236}">
                <a16:creationId xmlns:a16="http://schemas.microsoft.com/office/drawing/2014/main" id="{B5ECF5F0-09D7-736E-363E-D70445C8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42" y="1530864"/>
            <a:ext cx="4075673" cy="4098324"/>
          </a:xfrm>
          <a:prstGeom prst="rect">
            <a:avLst/>
          </a:prstGeom>
        </p:spPr>
      </p:pic>
      <p:pic>
        <p:nvPicPr>
          <p:cNvPr id="11" name="Imagem 10" descr="Uma imagem com diagrama, file, Paralelo, Retângulo&#10;&#10;Os conteúdos gerados por IA poderão estar incorretos.">
            <a:extLst>
              <a:ext uri="{FF2B5EF4-FFF2-40B4-BE49-F238E27FC236}">
                <a16:creationId xmlns:a16="http://schemas.microsoft.com/office/drawing/2014/main" id="{4254C474-4C1A-330B-6A7D-A724A125B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651" y="810262"/>
            <a:ext cx="5440326" cy="181143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0F1FDD9-8DED-903E-02DC-312C9FED9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81" y="2010433"/>
            <a:ext cx="4281722" cy="2834016"/>
          </a:xfrm>
          <a:prstGeom prst="rect">
            <a:avLst/>
          </a:prstGeom>
        </p:spPr>
      </p:pic>
      <p:pic>
        <p:nvPicPr>
          <p:cNvPr id="4" name="Imagem 3" descr="Uma imagem com design&#10;&#10;Os conteúdos gerados por IA poderão estar incorretos.">
            <a:extLst>
              <a:ext uri="{FF2B5EF4-FFF2-40B4-BE49-F238E27FC236}">
                <a16:creationId xmlns:a16="http://schemas.microsoft.com/office/drawing/2014/main" id="{8CCEF36F-1532-4A6B-FCAC-AF221D023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710" y="2646250"/>
            <a:ext cx="3206676" cy="3201729"/>
          </a:xfrm>
          <a:prstGeom prst="rect">
            <a:avLst/>
          </a:prstGeom>
        </p:spPr>
      </p:pic>
      <p:pic>
        <p:nvPicPr>
          <p:cNvPr id="5" name="Imagem 4" descr="Uma imagem com conjunto de serviço em metal, parafuso&#10;&#10;Os conteúdos gerados por IA poderão estar incorretos.">
            <a:extLst>
              <a:ext uri="{FF2B5EF4-FFF2-40B4-BE49-F238E27FC236}">
                <a16:creationId xmlns:a16="http://schemas.microsoft.com/office/drawing/2014/main" id="{5333803F-57EC-BB95-E2AD-E993BD11DA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494" y="2648540"/>
            <a:ext cx="2057105" cy="2051198"/>
          </a:xfrm>
          <a:prstGeom prst="rect">
            <a:avLst/>
          </a:prstGeom>
        </p:spPr>
      </p:pic>
      <p:pic>
        <p:nvPicPr>
          <p:cNvPr id="6" name="Imagem 5" descr="Uma imagem com Componente eletrónico, Componente de circuito, eletrónica, Engenharia eletrónica&#10;&#10;Os conteúdos gerados por IA poderão estar incorretos.">
            <a:extLst>
              <a:ext uri="{FF2B5EF4-FFF2-40B4-BE49-F238E27FC236}">
                <a16:creationId xmlns:a16="http://schemas.microsoft.com/office/drawing/2014/main" id="{65DDEB30-1B80-94C0-335B-2A16E3B147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5087" y="3675430"/>
            <a:ext cx="4913128" cy="3683370"/>
          </a:xfrm>
          <a:prstGeom prst="rect">
            <a:avLst/>
          </a:prstGeom>
        </p:spPr>
      </p:pic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469E9DB-4645-FDB4-6101-6F3E9F77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000" smtClean="0"/>
              <a:t>3</a:t>
            </a:fld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243686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C3922-7804-F490-CFF7-6FB25BB31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</p:spPr>
        <p:txBody>
          <a:bodyPr anchor="b">
            <a:normAutofit/>
          </a:bodyPr>
          <a:lstStyle/>
          <a:p>
            <a:r>
              <a:rPr lang="pt-PT"/>
              <a:t>Estado atual</a:t>
            </a:r>
          </a:p>
        </p:txBody>
      </p:sp>
      <p:pic>
        <p:nvPicPr>
          <p:cNvPr id="4" name="Marcador de Posição de Conteúdo 3" descr="Uma imagem com cabo, eletrónica, computador portátil, Componente de computador&#10;&#10;Os conteúdos gerados por IA poderão estar incorretos.">
            <a:extLst>
              <a:ext uri="{FF2B5EF4-FFF2-40B4-BE49-F238E27FC236}">
                <a16:creationId xmlns:a16="http://schemas.microsoft.com/office/drawing/2014/main" id="{3432FB42-F701-2BE9-0F40-7280A3E53B0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r="22813"/>
          <a:stretch>
            <a:fillRect/>
          </a:stretch>
        </p:blipFill>
        <p:spPr>
          <a:xfrm>
            <a:off x="457201" y="1881134"/>
            <a:ext cx="4214193" cy="4526169"/>
          </a:xfrm>
          <a:prstGeom prst="rect">
            <a:avLst/>
          </a:prstGeom>
          <a:noFill/>
        </p:spPr>
      </p:pic>
      <p:pic>
        <p:nvPicPr>
          <p:cNvPr id="5" name="Imagem 4" descr="Uma imagem com texto, captura de ecrã, software, ecrã&#10;&#10;Os conteúdos gerados por IA poderão estar incorretos.">
            <a:extLst>
              <a:ext uri="{FF2B5EF4-FFF2-40B4-BE49-F238E27FC236}">
                <a16:creationId xmlns:a16="http://schemas.microsoft.com/office/drawing/2014/main" id="{AB287211-C705-0E53-C178-B34F2A23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" t="904" b="301"/>
          <a:stretch>
            <a:fillRect/>
          </a:stretch>
        </p:blipFill>
        <p:spPr>
          <a:xfrm>
            <a:off x="3430290" y="1881134"/>
            <a:ext cx="8774190" cy="215725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noFill/>
        </p:spPr>
      </p:pic>
      <p:pic>
        <p:nvPicPr>
          <p:cNvPr id="6" name="Imagem 5" descr="Uma imagem com texto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4C841F20-C2B9-560C-7B06-3C59DE39A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96" y="4036539"/>
            <a:ext cx="4294496" cy="2344714"/>
          </a:xfrm>
          <a:prstGeom prst="rect">
            <a:avLst/>
          </a:prstGeom>
        </p:spPr>
      </p:pic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A8DA7C93-4B38-0BB7-8F79-CB587AF582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z="2000" dirty="0" smtClean="0"/>
              <a:t>4</a:t>
            </a:fld>
            <a:endParaRPr lang="pt-PT" sz="2400"/>
          </a:p>
        </p:txBody>
      </p:sp>
    </p:spTree>
    <p:extLst>
      <p:ext uri="{BB962C8B-B14F-4D97-AF65-F5344CB8AC3E}">
        <p14:creationId xmlns:p14="http://schemas.microsoft.com/office/powerpoint/2010/main" val="135979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0DF81-8BE2-BEFA-1A81-D8B82FBF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57200"/>
            <a:ext cx="5636742" cy="982363"/>
          </a:xfrm>
        </p:spPr>
        <p:txBody>
          <a:bodyPr anchor="t">
            <a:normAutofit/>
          </a:bodyPr>
          <a:lstStyle/>
          <a:p>
            <a:r>
              <a:rPr lang="pt-PT"/>
              <a:t>Próximos Passos</a:t>
            </a:r>
          </a:p>
        </p:txBody>
      </p:sp>
      <p:pic>
        <p:nvPicPr>
          <p:cNvPr id="6" name="Imagem 5" descr="Uma imagem com texto, captura de ecrã, diagrama, Retângulo&#10;&#10;Os conteúdos gerados por IA poderão estar incorretos.">
            <a:extLst>
              <a:ext uri="{FF2B5EF4-FFF2-40B4-BE49-F238E27FC236}">
                <a16:creationId xmlns:a16="http://schemas.microsoft.com/office/drawing/2014/main" id="{4F2C0547-676E-6C8E-5826-743F9B100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45" y="1861728"/>
            <a:ext cx="10617709" cy="4539072"/>
          </a:xfrm>
          <a:prstGeom prst="rect">
            <a:avLst/>
          </a:prstGeom>
          <a:noFill/>
        </p:spPr>
      </p:pic>
      <p:sp>
        <p:nvSpPr>
          <p:cNvPr id="14" name="Marcador de Posição do Número do Diapositivo 13">
            <a:extLst>
              <a:ext uri="{FF2B5EF4-FFF2-40B4-BE49-F238E27FC236}">
                <a16:creationId xmlns:a16="http://schemas.microsoft.com/office/drawing/2014/main" id="{9A07C862-9566-F643-49B2-72DE3518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000" smtClean="0"/>
              <a:t>5</a:t>
            </a:fld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187285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C5A05-567A-13CA-C132-AC583256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>
            <a:normAutofit/>
          </a:bodyPr>
          <a:lstStyle/>
          <a:p>
            <a:r>
              <a:rPr lang="pt-PT"/>
              <a:t>Obrigado pela atenção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3D081A9-849E-0183-9559-8FD212293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0914" y="1477505"/>
            <a:ext cx="4033546" cy="2971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pt-PT" sz="4000"/>
              <a:t>Alguém tem alguma dúvida?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DD5277-17C5-3410-A86B-14E2DB33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z="2000" dirty="0" smtClean="0"/>
              <a:t>6</a:t>
            </a:fld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424724322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in32_SD_V5" id="{E43A2CAE-029B-46E8-8085-D6AC37FEAB72}" vid="{9BD0D0BD-C5D3-42A7-8670-EE25EA2223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8185C0273E1042B1A933EED5137BCB" ma:contentTypeVersion="3" ma:contentTypeDescription="Criar um novo documento." ma:contentTypeScope="" ma:versionID="03896758fdd028a3fbd70be00cfc9582">
  <xsd:schema xmlns:xsd="http://www.w3.org/2001/XMLSchema" xmlns:xs="http://www.w3.org/2001/XMLSchema" xmlns:p="http://schemas.microsoft.com/office/2006/metadata/properties" xmlns:ns2="182c4032-5c77-46fc-a1b8-8df28840764c" targetNamespace="http://schemas.microsoft.com/office/2006/metadata/properties" ma:root="true" ma:fieldsID="b3d871b02b8d07d06e48d399f31b785f" ns2:_="">
    <xsd:import namespace="182c4032-5c77-46fc-a1b8-8df288407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2c4032-5c77-46fc-a1b8-8df2884076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DA846A-587C-40F2-863D-19E8B5B9ED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594641-0B18-4717-9FEF-635CC1DB103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EC5DC9E-6C6B-4085-B7D0-4C4C2652AE29}">
  <ds:schemaRefs>
    <ds:schemaRef ds:uri="182c4032-5c77-46fc-a1b8-8df2884076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Ecrã Panorâmico</PresentationFormat>
  <Slides>6</Slides>
  <Notes>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7" baseType="lpstr">
      <vt:lpstr>Prismatic polygons</vt:lpstr>
      <vt:lpstr>Desenvolvimento de mesa sismica com base em impressão 3D</vt:lpstr>
      <vt:lpstr>Em que consiste o projeto e qual o seu propósito?</vt:lpstr>
      <vt:lpstr>Abordagem</vt:lpstr>
      <vt:lpstr>Estado atual</vt:lpstr>
      <vt:lpstr>Próximos Passos</vt:lpstr>
      <vt:lpstr>Obrigado pela atenção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2026-04-17T14:24:46Z</dcterms:created>
  <dcterms:modified xsi:type="dcterms:W3CDTF">2026-04-21T13:09:12Z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0x010100D68185C0273E1042B1A933EED5137BCB</vt:lpwstr>
  </property>
</Properties>
</file>